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120" y="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9BE31-1390-8CAB-7429-9DFF8CB9E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2ABDD4-30D1-2C00-22D8-39DE78C68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297B8-0375-F5C3-4C2E-C7EA6F71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74E9A-FA39-DA9D-B30A-D8E276A5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C5553-11FE-0C2E-C79B-5FC7D564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9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66805-1778-5853-8CB8-647BDD2A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44F6FD-FE94-C29F-80E1-7FF0A785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2BCA84-4DA2-A9A3-8FF2-4634E3DC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06C763-D566-37CC-83AD-BAAC9A2B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C6AF7-02DA-DA38-EED6-BACC9118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1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0E7F7-5330-1440-8248-E0560E93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681785-5528-E374-C2AC-657B76B1B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0F61D-3D6B-8627-2B77-66FFA886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49653-0031-04D4-A2A7-C7B36BC3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DF01D-6100-A647-41BE-D04421FD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13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2A5C7-13C2-AB7D-2643-AAFE578B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73BDB-880C-48BE-9752-99C69F5E7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CD65F5-5198-E29B-FB53-C8BA0102A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4709C4-C327-28C6-778A-4FB61EC5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1A22A3-DE2A-8103-F033-571CE2D7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06B58D-C7E4-E253-4727-BE1A6A42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24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2CBC1-C508-D69E-4A32-5EA3FE02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482523-45F4-1D0E-634D-A864867E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6EE67E-189C-E245-ED4A-729637DC9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3506B5-D663-A6BC-434F-7805D1364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662889-6FAD-A272-01AE-7794B928E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8D685F-F8A8-A7D5-80D5-315C7225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60A715-68E9-9F7B-216F-B46FC139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933CAF-C2D7-149B-CA0A-C1CA3FA8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12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4FF85-7DEF-3516-481E-EFE2C61C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0681F7-51B9-FE79-DF31-A281F155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AE3513-6FAD-06C6-ED00-59554096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0C3D6-20D1-6A12-B4C9-EBED976D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54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9CE245-AF51-6431-679D-55466383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E3D268-1570-0D60-3223-1C5FA70B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46036-DA9B-8DF4-C879-EC1AF163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0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A03BA-33A0-9C83-B588-265D2177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579C8-872D-70A5-E652-BB72F7E52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35E0EC-C973-6CA7-7461-C484EE0C2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F52A0E-EBC9-62FC-5075-24F89422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8CC032-7871-CA64-709A-80D25568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14621-C9EC-67A2-43DE-B5382767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11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FED80-9425-C857-A1AE-914EFB3B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C48FAF-84D8-0CCA-1514-7F9DDBFDC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B23122-D697-F035-3FEE-F4BE9EAD5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EA1A38-B7C4-B8E0-57A3-24D9F471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41D15-8E29-9E59-B749-F809369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4D7749-D78D-299D-84D2-468DEF0C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9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B4ACA-DA7A-41AA-A654-7E77906B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EA26CA-BED4-D954-4E54-A4E891BD5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73401E-CC5E-BDA6-C739-20DD081F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E2F22-CAFA-E580-10F2-A67A3C2B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1E783-70DD-B771-9325-A974ACF9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06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43B2C1-99B1-F4CC-3488-DDD070D7C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6510F6-FE95-B865-7656-81FA65D3B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ED6D1-9074-E208-E7A4-4EBF3E6FD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435BA-EBE6-F92C-B285-993CAD08D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4B5A5-8A68-9A8F-0CE0-63A43AF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82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D9E25D-2C47-874F-C592-BD23EB31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E96FFB-FDA1-E18B-0516-D67C5237D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124B8-2AFF-1FB4-1D08-F387C8415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2C5CA-0F48-4BCF-9DE2-4CF2A00D8FBF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D1D6E-3FD9-A63E-85E1-1898F3B5C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F4CA4-585B-A442-8E13-DDF3C3C2E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576EA-F4A6-4177-881B-E5BF8D31CB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60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C1CFB5-F31F-CDF6-3F29-C0907990E806}"/>
              </a:ext>
            </a:extLst>
          </p:cNvPr>
          <p:cNvSpPr txBox="1"/>
          <p:nvPr/>
        </p:nvSpPr>
        <p:spPr>
          <a:xfrm>
            <a:off x="338203" y="126563"/>
            <a:ext cx="2887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Violin plot of A domain </a:t>
            </a:r>
            <a:r>
              <a:rPr lang="en-US" altLang="zh-CN" dirty="0" err="1">
                <a:cs typeface="+mn-ea"/>
                <a:sym typeface="+mn-lt"/>
              </a:rPr>
              <a:t>intermotif</a:t>
            </a:r>
            <a:r>
              <a:rPr lang="en-US" altLang="zh-CN" dirty="0">
                <a:cs typeface="+mn-ea"/>
                <a:sym typeface="+mn-lt"/>
              </a:rPr>
              <a:t> distance between </a:t>
            </a:r>
            <a:r>
              <a:rPr lang="en-US" altLang="zh-CN" dirty="0" err="1">
                <a:cs typeface="+mn-ea"/>
                <a:sym typeface="+mn-lt"/>
              </a:rPr>
              <a:t>Aib</a:t>
            </a:r>
            <a:r>
              <a:rPr lang="en-US" altLang="zh-CN" dirty="0">
                <a:cs typeface="+mn-ea"/>
                <a:sym typeface="+mn-lt"/>
              </a:rPr>
              <a:t> and </a:t>
            </a:r>
            <a:r>
              <a:rPr lang="en-US" altLang="zh-CN" dirty="0" err="1">
                <a:cs typeface="+mn-ea"/>
                <a:sym typeface="+mn-lt"/>
              </a:rPr>
              <a:t>Aib</a:t>
            </a:r>
            <a:r>
              <a:rPr lang="en-US" altLang="zh-CN" dirty="0">
                <a:cs typeface="+mn-ea"/>
                <a:sym typeface="+mn-lt"/>
              </a:rPr>
              <a:t>/</a:t>
            </a:r>
            <a:r>
              <a:rPr lang="en-US" altLang="zh-CN" dirty="0" err="1">
                <a:cs typeface="+mn-ea"/>
                <a:sym typeface="+mn-lt"/>
              </a:rPr>
              <a:t>Vxx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err="1">
                <a:cs typeface="+mn-ea"/>
                <a:sym typeface="+mn-lt"/>
              </a:rPr>
              <a:t>Aib</a:t>
            </a:r>
            <a:r>
              <a:rPr lang="en-US" altLang="zh-CN" dirty="0">
                <a:cs typeface="+mn-ea"/>
                <a:sym typeface="+mn-lt"/>
              </a:rPr>
              <a:t>-A domain threshold</a:t>
            </a:r>
          </a:p>
          <a:p>
            <a:r>
              <a:rPr lang="en-US" altLang="zh-CN" b="1" dirty="0" err="1">
                <a:cs typeface="+mn-ea"/>
                <a:sym typeface="+mn-lt"/>
              </a:rPr>
              <a:t>Substrate.mlx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>
                <a:highlight>
                  <a:srgbClr val="FFFF00"/>
                </a:highlight>
                <a:cs typeface="+mn-ea"/>
                <a:sym typeface="+mn-lt"/>
              </a:rPr>
              <a:t>Substrate_20240327.mat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9B194-2A25-2E24-999E-8F97A7666B1B}"/>
              </a:ext>
            </a:extLst>
          </p:cNvPr>
          <p:cNvSpPr txBox="1"/>
          <p:nvPr/>
        </p:nvSpPr>
        <p:spPr>
          <a:xfrm>
            <a:off x="338203" y="2347303"/>
            <a:ext cx="27021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Read </a:t>
            </a:r>
            <a:r>
              <a:rPr lang="en-US" altLang="zh-CN" dirty="0" err="1">
                <a:cs typeface="+mn-ea"/>
                <a:sym typeface="+mn-lt"/>
              </a:rPr>
              <a:t>antiSMASH</a:t>
            </a:r>
            <a:r>
              <a:rPr lang="en-US" altLang="zh-CN" dirty="0">
                <a:cs typeface="+mn-ea"/>
                <a:sym typeface="+mn-lt"/>
              </a:rPr>
              <a:t> results of 126 </a:t>
            </a:r>
            <a:r>
              <a:rPr lang="en-US" altLang="zh-CN" i="1" dirty="0">
                <a:cs typeface="+mn-ea"/>
                <a:sym typeface="+mn-lt"/>
              </a:rPr>
              <a:t>Trichoderma</a:t>
            </a:r>
            <a:r>
              <a:rPr lang="en-US" altLang="zh-CN" dirty="0">
                <a:cs typeface="+mn-ea"/>
                <a:sym typeface="+mn-lt"/>
              </a:rPr>
              <a:t> species</a:t>
            </a:r>
          </a:p>
          <a:p>
            <a:r>
              <a:rPr lang="zh-CN" altLang="en-US" b="1" dirty="0">
                <a:cs typeface="+mn-ea"/>
                <a:sym typeface="+mn-lt"/>
              </a:rPr>
              <a:t>process_data.m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>
                <a:highlight>
                  <a:srgbClr val="FFFF00"/>
                </a:highlight>
                <a:cs typeface="+mn-ea"/>
                <a:sym typeface="+mn-lt"/>
              </a:rPr>
              <a:t>./output/</a:t>
            </a:r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my_omains.mat</a:t>
            </a:r>
            <a:endParaRPr lang="en-US" altLang="zh-CN" dirty="0">
              <a:highlight>
                <a:srgbClr val="FFFF00"/>
              </a:highlight>
              <a:cs typeface="+mn-ea"/>
              <a:sym typeface="+mn-lt"/>
            </a:endParaRPr>
          </a:p>
          <a:p>
            <a:r>
              <a:rPr lang="en-US" altLang="zh-CN" dirty="0">
                <a:highlight>
                  <a:srgbClr val="FFFF00"/>
                </a:highlight>
                <a:cs typeface="+mn-ea"/>
                <a:sym typeface="+mn-lt"/>
              </a:rPr>
              <a:t>./output/</a:t>
            </a:r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my_regions.mat</a:t>
            </a:r>
            <a:endParaRPr lang="en-US" altLang="zh-CN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A74C02-9E61-3D9B-7CC8-D99B1DC458B3}"/>
              </a:ext>
            </a:extLst>
          </p:cNvPr>
          <p:cNvSpPr txBox="1"/>
          <p:nvPr/>
        </p:nvSpPr>
        <p:spPr>
          <a:xfrm>
            <a:off x="4120254" y="1761573"/>
            <a:ext cx="36478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Find </a:t>
            </a:r>
            <a:r>
              <a:rPr lang="en-US" altLang="zh-CN" dirty="0" err="1">
                <a:cs typeface="+mn-ea"/>
                <a:sym typeface="+mn-lt"/>
              </a:rPr>
              <a:t>Aib</a:t>
            </a:r>
            <a:r>
              <a:rPr lang="en-US" altLang="zh-CN" dirty="0">
                <a:cs typeface="+mn-ea"/>
                <a:sym typeface="+mn-lt"/>
              </a:rPr>
              <a:t>-activating A domain 126 </a:t>
            </a:r>
            <a:r>
              <a:rPr lang="en-US" altLang="zh-CN" i="1" dirty="0">
                <a:cs typeface="+mn-ea"/>
                <a:sym typeface="+mn-lt"/>
              </a:rPr>
              <a:t>Trichoderma</a:t>
            </a:r>
            <a:r>
              <a:rPr lang="en-US" altLang="zh-CN" dirty="0">
                <a:cs typeface="+mn-ea"/>
                <a:sym typeface="+mn-lt"/>
              </a:rPr>
              <a:t> species</a:t>
            </a:r>
          </a:p>
          <a:p>
            <a:r>
              <a:rPr lang="en-US" altLang="zh-CN" dirty="0">
                <a:cs typeface="+mn-ea"/>
                <a:sym typeface="+mn-lt"/>
              </a:rPr>
              <a:t>Prepare for </a:t>
            </a:r>
            <a:r>
              <a:rPr lang="en-US" altLang="zh-CN" dirty="0" err="1">
                <a:cs typeface="+mn-ea"/>
                <a:sym typeface="+mn-lt"/>
              </a:rPr>
              <a:t>iTOL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</a:rPr>
              <a:t>UMAP/MLGO</a:t>
            </a:r>
          </a:p>
          <a:p>
            <a:r>
              <a:rPr lang="en-US" altLang="zh-CN" b="1" dirty="0" err="1">
                <a:cs typeface="+mn-ea"/>
                <a:sym typeface="+mn-lt"/>
              </a:rPr>
              <a:t>Fingi_Aib_Find_in_T.m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Known_peptaibol_struct.mat</a:t>
            </a:r>
            <a:endParaRPr lang="en-US" altLang="zh-CN" dirty="0">
              <a:highlight>
                <a:srgbClr val="FFFF00"/>
              </a:highlight>
              <a:cs typeface="+mn-ea"/>
              <a:sym typeface="+mn-lt"/>
            </a:endParaRPr>
          </a:p>
          <a:p>
            <a:r>
              <a:rPr lang="en-US" altLang="zh-CN" dirty="0">
                <a:highlight>
                  <a:srgbClr val="FFFF00"/>
                </a:highlight>
                <a:cs typeface="+mn-ea"/>
                <a:sym typeface="+mn-lt"/>
              </a:rPr>
              <a:t>./output/</a:t>
            </a:r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result_T.mat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719CB6-2A35-B429-201C-448A91F071A4}"/>
              </a:ext>
            </a:extLst>
          </p:cNvPr>
          <p:cNvSpPr txBox="1"/>
          <p:nvPr/>
        </p:nvSpPr>
        <p:spPr>
          <a:xfrm>
            <a:off x="4120255" y="126563"/>
            <a:ext cx="5032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Find </a:t>
            </a:r>
            <a:r>
              <a:rPr lang="en-US" altLang="zh-CN" dirty="0" err="1">
                <a:cs typeface="+mn-ea"/>
                <a:sym typeface="+mn-lt"/>
              </a:rPr>
              <a:t>Aib</a:t>
            </a:r>
            <a:r>
              <a:rPr lang="en-US" altLang="zh-CN" dirty="0">
                <a:cs typeface="+mn-ea"/>
                <a:sym typeface="+mn-lt"/>
              </a:rPr>
              <a:t>-activating A domain in fungal genomes</a:t>
            </a:r>
          </a:p>
          <a:p>
            <a:r>
              <a:rPr lang="en-US" altLang="zh-CN" b="1" dirty="0" err="1">
                <a:cs typeface="+mn-ea"/>
                <a:sym typeface="+mn-lt"/>
              </a:rPr>
              <a:t>Fungi_Aib_Find.m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SSankey_Fungi_Aib_Find.mat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0A862A-F934-739F-DBE7-37C7F44F8940}"/>
              </a:ext>
            </a:extLst>
          </p:cNvPr>
          <p:cNvSpPr txBox="1"/>
          <p:nvPr/>
        </p:nvSpPr>
        <p:spPr>
          <a:xfrm>
            <a:off x="8847987" y="2177071"/>
            <a:ext cx="1883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Find </a:t>
            </a:r>
            <a:r>
              <a:rPr lang="en-US" altLang="zh-CN" sz="1800" kern="100" dirty="0">
                <a:effectLst/>
                <a:cs typeface="+mn-ea"/>
                <a:sym typeface="+mn-lt"/>
              </a:rPr>
              <a:t>34-residue A-domain signature (34AA)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b="1" dirty="0">
                <a:cs typeface="+mn-ea"/>
                <a:sym typeface="+mn-lt"/>
              </a:rPr>
              <a:t>34_sig.py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26FB55-6151-825A-DCDA-B870BD347E5A}"/>
              </a:ext>
            </a:extLst>
          </p:cNvPr>
          <p:cNvSpPr txBox="1"/>
          <p:nvPr/>
        </p:nvSpPr>
        <p:spPr>
          <a:xfrm>
            <a:off x="338203" y="4434519"/>
            <a:ext cx="3723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Visualization of dual confrontation assay results</a:t>
            </a:r>
          </a:p>
          <a:p>
            <a:r>
              <a:rPr lang="en-US" altLang="zh-CN" b="1" dirty="0" err="1">
                <a:cs typeface="+mn-ea"/>
                <a:sym typeface="+mn-lt"/>
              </a:rPr>
              <a:t>Confront.mlx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E27E5C-13A9-31BE-0027-BF70CFD732FE}"/>
              </a:ext>
            </a:extLst>
          </p:cNvPr>
          <p:cNvSpPr txBox="1"/>
          <p:nvPr/>
        </p:nvSpPr>
        <p:spPr>
          <a:xfrm>
            <a:off x="338203" y="5547652"/>
            <a:ext cx="43738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Find </a:t>
            </a:r>
            <a:r>
              <a:rPr lang="en-US" altLang="zh-CN" dirty="0" err="1">
                <a:cs typeface="+mn-ea"/>
                <a:sym typeface="+mn-lt"/>
              </a:rPr>
              <a:t>AibABC</a:t>
            </a:r>
            <a:r>
              <a:rPr lang="en-US" altLang="zh-CN" dirty="0">
                <a:cs typeface="+mn-ea"/>
                <a:sym typeface="+mn-lt"/>
              </a:rPr>
              <a:t> in 126 </a:t>
            </a:r>
            <a:r>
              <a:rPr lang="en-US" altLang="zh-CN" i="1" dirty="0">
                <a:cs typeface="+mn-ea"/>
                <a:sym typeface="+mn-lt"/>
              </a:rPr>
              <a:t>Trichoderma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err="1">
                <a:cs typeface="+mn-ea"/>
                <a:sym typeface="+mn-lt"/>
              </a:rPr>
              <a:t>speices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b="1" dirty="0" err="1">
                <a:cs typeface="+mn-ea"/>
                <a:sym typeface="+mn-lt"/>
              </a:rPr>
              <a:t>blast.m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blast.mat</a:t>
            </a:r>
            <a:endParaRPr lang="en-US" altLang="zh-CN" dirty="0">
              <a:highlight>
                <a:srgbClr val="FFFF00"/>
              </a:highlight>
              <a:cs typeface="+mn-ea"/>
              <a:sym typeface="+mn-lt"/>
            </a:endParaRPr>
          </a:p>
          <a:p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assign_color.mat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8D77CC-652A-4F93-6686-36D124C7C729}"/>
              </a:ext>
            </a:extLst>
          </p:cNvPr>
          <p:cNvSpPr txBox="1"/>
          <p:nvPr/>
        </p:nvSpPr>
        <p:spPr>
          <a:xfrm>
            <a:off x="4120255" y="4324237"/>
            <a:ext cx="364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100" dirty="0">
                <a:cs typeface="+mn-ea"/>
                <a:sym typeface="+mn-lt"/>
              </a:rPr>
              <a:t>Visualization of recombination events in </a:t>
            </a:r>
            <a:r>
              <a:rPr lang="en-US" altLang="zh-CN" sz="1800" kern="100" dirty="0">
                <a:effectLst/>
                <a:cs typeface="+mn-ea"/>
                <a:sym typeface="+mn-lt"/>
              </a:rPr>
              <a:t>peptaibol synthetases by sliding window approach 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b="1" dirty="0" err="1">
                <a:cs typeface="+mn-ea"/>
                <a:sym typeface="+mn-lt"/>
              </a:rPr>
              <a:t>recombination_event.m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ABB1BA-10C5-CB63-D276-E61270752C5A}"/>
              </a:ext>
            </a:extLst>
          </p:cNvPr>
          <p:cNvSpPr txBox="1"/>
          <p:nvPr/>
        </p:nvSpPr>
        <p:spPr>
          <a:xfrm>
            <a:off x="8847987" y="4885988"/>
            <a:ext cx="30681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cs typeface="+mn-ea"/>
                <a:sym typeface="+mn-lt"/>
              </a:rPr>
              <a:t>chord diagram of substrate promiscuity in </a:t>
            </a:r>
            <a:r>
              <a:rPr lang="en-US" altLang="zh-CN" sz="1800" i="1" dirty="0">
                <a:effectLst/>
                <a:cs typeface="+mn-ea"/>
                <a:sym typeface="+mn-lt"/>
              </a:rPr>
              <a:t>T. </a:t>
            </a:r>
            <a:r>
              <a:rPr lang="en-US" altLang="zh-CN" sz="1800" i="1" dirty="0" err="1">
                <a:effectLst/>
                <a:cs typeface="+mn-ea"/>
                <a:sym typeface="+mn-lt"/>
              </a:rPr>
              <a:t>hypoxylon</a:t>
            </a:r>
            <a:r>
              <a:rPr lang="en-US" altLang="zh-CN" dirty="0">
                <a:cs typeface="+mn-ea"/>
                <a:sym typeface="+mn-lt"/>
              </a:rPr>
              <a:t> peptaibols</a:t>
            </a:r>
          </a:p>
          <a:p>
            <a:r>
              <a:rPr lang="en-US" altLang="zh-CN" b="1" dirty="0" err="1">
                <a:cs typeface="+mn-ea"/>
                <a:sym typeface="+mn-lt"/>
              </a:rPr>
              <a:t>chord.mlx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b="1" dirty="0" err="1">
                <a:cs typeface="+mn-ea"/>
                <a:sym typeface="+mn-lt"/>
              </a:rPr>
              <a:t>chord_figure.R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b="1" dirty="0" err="1">
                <a:cs typeface="+mn-ea"/>
                <a:sym typeface="+mn-lt"/>
              </a:rPr>
              <a:t>donut_figure.R</a:t>
            </a:r>
            <a:endParaRPr lang="zh-CN" altLang="en-US" b="1" dirty="0">
              <a:cs typeface="+mn-ea"/>
              <a:sym typeface="+mn-lt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FE6797C-074D-BE16-616C-1C3DB9B62235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225453" y="1003726"/>
            <a:ext cx="2718732" cy="757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5EDBDFD-8CC9-FA3F-D159-4DD71025A5C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040383" y="2777236"/>
            <a:ext cx="1079871" cy="447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1765814-42FB-EF20-CF3C-9EB02D241D6E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3225453" y="588228"/>
            <a:ext cx="894802" cy="415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E8E55EC-F1AA-48EB-2965-979F6B19FAC9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5944185" y="3792898"/>
            <a:ext cx="1" cy="531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FF6E6C11-4976-164E-D49E-37ABF2701677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V="1">
            <a:off x="7768116" y="2177071"/>
            <a:ext cx="2021775" cy="600165"/>
          </a:xfrm>
          <a:prstGeom prst="curvedConnector4">
            <a:avLst>
              <a:gd name="adj1" fmla="val 26706"/>
              <a:gd name="adj2" fmla="val 1541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曲线 35">
            <a:extLst>
              <a:ext uri="{FF2B5EF4-FFF2-40B4-BE49-F238E27FC236}">
                <a16:creationId xmlns:a16="http://schemas.microsoft.com/office/drawing/2014/main" id="{8949325B-A15E-F8E5-1C8E-C6D1B35AE65D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 flipH="1">
            <a:off x="8478922" y="2066431"/>
            <a:ext cx="600164" cy="2021775"/>
          </a:xfrm>
          <a:prstGeom prst="curvedConnector4">
            <a:avLst>
              <a:gd name="adj1" fmla="val -38090"/>
              <a:gd name="adj2" fmla="val 732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2F4D204-5D8A-E4AB-706B-8C45A70E6EFF}"/>
              </a:ext>
            </a:extLst>
          </p:cNvPr>
          <p:cNvSpPr/>
          <p:nvPr/>
        </p:nvSpPr>
        <p:spPr>
          <a:xfrm>
            <a:off x="10208905" y="516986"/>
            <a:ext cx="1823931" cy="13118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817C47F-01E8-40EC-0033-9DDBD43ADAD3}"/>
              </a:ext>
            </a:extLst>
          </p:cNvPr>
          <p:cNvSpPr txBox="1"/>
          <p:nvPr/>
        </p:nvSpPr>
        <p:spPr>
          <a:xfrm>
            <a:off x="10208906" y="573353"/>
            <a:ext cx="1390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purpose</a:t>
            </a:r>
          </a:p>
          <a:p>
            <a:r>
              <a:rPr lang="en-US" altLang="zh-CN" b="1" dirty="0">
                <a:cs typeface="+mn-ea"/>
                <a:sym typeface="+mn-lt"/>
              </a:rPr>
              <a:t>Script</a:t>
            </a:r>
          </a:p>
          <a:p>
            <a:r>
              <a:rPr lang="en-US" altLang="zh-CN" dirty="0" err="1">
                <a:highlight>
                  <a:srgbClr val="FFFF00"/>
                </a:highlight>
                <a:cs typeface="+mn-ea"/>
                <a:sym typeface="+mn-lt"/>
              </a:rPr>
              <a:t>Matlab</a:t>
            </a:r>
            <a:r>
              <a:rPr lang="en-US" altLang="zh-CN" dirty="0">
                <a:highlight>
                  <a:srgbClr val="FFFF00"/>
                </a:highlight>
                <a:cs typeface="+mn-ea"/>
                <a:sym typeface="+mn-lt"/>
              </a:rPr>
              <a:t> data</a:t>
            </a:r>
            <a:endParaRPr lang="zh-CN" altLang="en-US" dirty="0">
              <a:highlight>
                <a:srgbClr val="FFFF00"/>
              </a:highlight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FAF7EB0-2EE7-6987-1E6E-0E3A38C56BFE}"/>
              </a:ext>
            </a:extLst>
          </p:cNvPr>
          <p:cNvSpPr txBox="1"/>
          <p:nvPr/>
        </p:nvSpPr>
        <p:spPr>
          <a:xfrm>
            <a:off x="10643817" y="14765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+mn-ea"/>
                <a:sym typeface="+mn-lt"/>
              </a:rPr>
              <a:t>Legend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CD01295-FB9C-AD7D-9E35-DC43118C5F3D}"/>
              </a:ext>
            </a:extLst>
          </p:cNvPr>
          <p:cNvSpPr txBox="1"/>
          <p:nvPr/>
        </p:nvSpPr>
        <p:spPr>
          <a:xfrm>
            <a:off x="8847987" y="3827261"/>
            <a:ext cx="3084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kern="100" dirty="0">
                <a:effectLst/>
                <a:cs typeface="+mn-ea"/>
                <a:sym typeface="+mn-lt"/>
              </a:rPr>
              <a:t>clustering analysis of a4–a5 </a:t>
            </a:r>
            <a:r>
              <a:rPr lang="en-US" altLang="zh-CN" sz="1800" kern="100" dirty="0" err="1">
                <a:effectLst/>
                <a:cs typeface="+mn-ea"/>
                <a:sym typeface="+mn-lt"/>
              </a:rPr>
              <a:t>intermotif</a:t>
            </a:r>
            <a:r>
              <a:rPr lang="en-US" altLang="zh-CN" sz="1800" kern="100" dirty="0">
                <a:effectLst/>
                <a:cs typeface="+mn-ea"/>
                <a:sym typeface="+mn-lt"/>
              </a:rPr>
              <a:t> and 34AA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b="1" dirty="0">
                <a:cs typeface="+mn-ea"/>
                <a:sym typeface="+mn-lt"/>
              </a:rPr>
              <a:t>A4_A5_tree.m</a:t>
            </a:r>
            <a:endParaRPr lang="zh-CN" altLang="en-US" b="1" dirty="0">
              <a:cs typeface="+mn-ea"/>
              <a:sym typeface="+mn-lt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4C648312-22B0-C089-4515-3D3B02234968}"/>
              </a:ext>
            </a:extLst>
          </p:cNvPr>
          <p:cNvCxnSpPr>
            <a:cxnSpLocks/>
            <a:stCxn id="7" idx="2"/>
            <a:endCxn id="96" idx="1"/>
          </p:cNvCxnSpPr>
          <p:nvPr/>
        </p:nvCxnSpPr>
        <p:spPr>
          <a:xfrm>
            <a:off x="5944185" y="3792898"/>
            <a:ext cx="2903802" cy="496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EBF3C241-F1CC-1E85-0774-1BD368803AB3}"/>
              </a:ext>
            </a:extLst>
          </p:cNvPr>
          <p:cNvCxnSpPr/>
          <p:nvPr/>
        </p:nvCxnSpPr>
        <p:spPr>
          <a:xfrm>
            <a:off x="10320668" y="1584954"/>
            <a:ext cx="2977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CAAF0AA-7414-A205-6B0A-13C1EB270C9D}"/>
              </a:ext>
            </a:extLst>
          </p:cNvPr>
          <p:cNvSpPr txBox="1"/>
          <p:nvPr/>
        </p:nvSpPr>
        <p:spPr>
          <a:xfrm>
            <a:off x="10553558" y="140028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Dependence</a:t>
            </a:r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5DE4BD6-377B-2B26-B528-55AE5C3A1D12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5944185" y="1049893"/>
            <a:ext cx="692240" cy="7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652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7b5fd992-30ed-4789-9f4f-79171628e340">
      <a:majorFont>
        <a:latin typeface="Arial" panose="02110004020202020204"/>
        <a:ea typeface="微软雅黑"/>
        <a:cs typeface=""/>
      </a:majorFont>
      <a:minorFont>
        <a:latin typeface="Arial" panose="021100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213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He, Ruolin</dc:creator>
  <cp:lastModifiedBy>Ruolin He</cp:lastModifiedBy>
  <cp:revision>14</cp:revision>
  <dcterms:created xsi:type="dcterms:W3CDTF">2025-12-31T08:41:29Z</dcterms:created>
  <dcterms:modified xsi:type="dcterms:W3CDTF">2026-01-01T08:25:05Z</dcterms:modified>
</cp:coreProperties>
</file>